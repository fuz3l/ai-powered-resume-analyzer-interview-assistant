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x Gyre Bonum" charset="1" panose="00000500000000000000"/>
      <p:regular r:id="rId16"/>
    </p:embeddedFont>
    <p:embeddedFont>
      <p:font typeface="Helvetica World Italics" charset="1" panose="020B0500040000090004"/>
      <p:regular r:id="rId17"/>
    </p:embeddedFont>
    <p:embeddedFont>
      <p:font typeface="Helvetica World Bold" charset="1" panose="020B0800040000020004"/>
      <p:regular r:id="rId18"/>
    </p:embeddedFont>
    <p:embeddedFont>
      <p:font typeface="Helvetica World" charset="1" panose="020B05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58212" y="3071482"/>
            <a:ext cx="12171577" cy="427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1"/>
              </a:lnSpc>
              <a:spcBef>
                <a:spcPct val="0"/>
              </a:spcBef>
            </a:pPr>
            <a:r>
              <a:rPr lang="en-US" sz="24957" spc="-1996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Evidently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04927" y="1532677"/>
            <a:ext cx="2078146" cy="207814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144000" y="-713936"/>
            <a:ext cx="0" cy="3280923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014062" y="2441812"/>
            <a:ext cx="259877" cy="2598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026609" y="7598967"/>
            <a:ext cx="6432465" cy="41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i="true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AI-POWERED </a:t>
            </a:r>
            <a:r>
              <a:rPr lang="en-US" sz="2199" i="true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RESUME SCREENING PLATFORM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79392" y="6080464"/>
            <a:ext cx="393282" cy="3932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18745" y="5444903"/>
            <a:ext cx="393282" cy="3932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484113" y="8598413"/>
            <a:ext cx="1319774" cy="1319774"/>
          </a:xfrm>
          <a:custGeom>
            <a:avLst/>
            <a:gdLst/>
            <a:ahLst/>
            <a:cxnLst/>
            <a:rect r="r" b="b" t="t" l="l"/>
            <a:pathLst>
              <a:path h="1319774" w="1319774">
                <a:moveTo>
                  <a:pt x="0" y="0"/>
                </a:moveTo>
                <a:lnTo>
                  <a:pt x="1319774" y="0"/>
                </a:lnTo>
                <a:lnTo>
                  <a:pt x="1319774" y="1319774"/>
                </a:lnTo>
                <a:lnTo>
                  <a:pt x="0" y="131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83" t="-24732" r="-24286" b="-2633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9137304" y="-1967704"/>
            <a:ext cx="9934375" cy="3565073"/>
            <a:chOff x="0" y="0"/>
            <a:chExt cx="812800" cy="291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1683"/>
            </a:xfrm>
            <a:custGeom>
              <a:avLst/>
              <a:gdLst/>
              <a:ahLst/>
              <a:cxnLst/>
              <a:rect r="r" b="b" t="t" l="l"/>
              <a:pathLst>
                <a:path h="291683" w="812800">
                  <a:moveTo>
                    <a:pt x="406400" y="0"/>
                  </a:moveTo>
                  <a:cubicBezTo>
                    <a:pt x="181951" y="0"/>
                    <a:pt x="0" y="65296"/>
                    <a:pt x="0" y="145842"/>
                  </a:cubicBezTo>
                  <a:cubicBezTo>
                    <a:pt x="0" y="226388"/>
                    <a:pt x="181951" y="291683"/>
                    <a:pt x="406400" y="291683"/>
                  </a:cubicBezTo>
                  <a:cubicBezTo>
                    <a:pt x="630849" y="291683"/>
                    <a:pt x="812800" y="226388"/>
                    <a:pt x="812800" y="145842"/>
                  </a:cubicBezTo>
                  <a:cubicBezTo>
                    <a:pt x="812800" y="652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0755"/>
              <a:ext cx="660400" cy="275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 flipV="true">
            <a:off x="15406851" y="8372733"/>
            <a:ext cx="6284601" cy="6008328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340176" y="8315583"/>
            <a:ext cx="259877" cy="2598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23723" y="507041"/>
            <a:ext cx="14840555" cy="246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10"/>
              </a:lnSpc>
              <a:spcBef>
                <a:spcPct val="0"/>
              </a:spcBef>
            </a:pPr>
            <a:r>
              <a:rPr lang="en-US" sz="14364" spc="-1149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3723" y="4513299"/>
            <a:ext cx="15399410" cy="3152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b="true" sz="3397" spc="-1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RECRUITERS SPEND SIGNIFICANT TIME REVIEWING RESUMES AND PREPARING INTERVIEW QUESTIONS MANUALLY. DEVELOP AN AI-POW</a:t>
            </a:r>
            <a:r>
              <a:rPr lang="en-US" b="true" sz="3397" spc="-1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ERED APPLICATION THAT ANALYZES RESUMES, MATCHES THEM WITH JOB DESCRIPTIONS, IDENTIFIES SKILL GAPS, AND GENERATES PERSONALIZED INTERVIEW QUESTIONS.</a:t>
            </a:r>
          </a:p>
          <a:p>
            <a:pPr algn="l">
              <a:lnSpc>
                <a:spcPts val="3329"/>
              </a:lnSpc>
            </a:pPr>
          </a:p>
          <a:p>
            <a:pPr algn="l">
              <a:lnSpc>
                <a:spcPts val="332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0012" y="8152980"/>
            <a:ext cx="3184919" cy="1337004"/>
            <a:chOff x="0" y="0"/>
            <a:chExt cx="838826" cy="352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826" cy="352133"/>
            </a:xfrm>
            <a:custGeom>
              <a:avLst/>
              <a:gdLst/>
              <a:ahLst/>
              <a:cxnLst/>
              <a:rect r="r" b="b" t="t" l="l"/>
              <a:pathLst>
                <a:path h="352133" w="838826">
                  <a:moveTo>
                    <a:pt x="0" y="0"/>
                  </a:moveTo>
                  <a:lnTo>
                    <a:pt x="838826" y="0"/>
                  </a:lnTo>
                  <a:lnTo>
                    <a:pt x="838826" y="352133"/>
                  </a:lnTo>
                  <a:lnTo>
                    <a:pt x="0" y="35213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38826" cy="39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99232"/>
            <a:ext cx="16230600" cy="20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59"/>
              </a:lnSpc>
            </a:pPr>
            <a:r>
              <a:rPr lang="en-US" sz="16813" spc="-1328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The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75532"/>
            <a:ext cx="13963450" cy="460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3490" spc="-13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Evidently is a platform where a recruiter uploads a batch of r</a:t>
            </a:r>
            <a:r>
              <a:rPr lang="en-US" sz="3490" spc="-13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esumes and a job description, and the AI does the screening work for them. It reads every resume, compares it to the job requirements one by one, and gives each candidate a score. But instead of just handing over a number, it shows exactly which line in the resume earned that score. Recruiters get a ranked list of candidates, know exactly what each one is missing, and get interview questions built around those specific gaps, all in minutes instead of hours.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0012" y="8152980"/>
            <a:ext cx="3184919" cy="1337004"/>
            <a:chOff x="0" y="0"/>
            <a:chExt cx="838826" cy="352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826" cy="352133"/>
            </a:xfrm>
            <a:custGeom>
              <a:avLst/>
              <a:gdLst/>
              <a:ahLst/>
              <a:cxnLst/>
              <a:rect r="r" b="b" t="t" l="l"/>
              <a:pathLst>
                <a:path h="352133" w="838826">
                  <a:moveTo>
                    <a:pt x="0" y="0"/>
                  </a:moveTo>
                  <a:lnTo>
                    <a:pt x="838826" y="0"/>
                  </a:lnTo>
                  <a:lnTo>
                    <a:pt x="838826" y="352133"/>
                  </a:lnTo>
                  <a:lnTo>
                    <a:pt x="0" y="35213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38826" cy="39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8982"/>
            <a:ext cx="16230600" cy="20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59"/>
              </a:lnSpc>
            </a:pPr>
            <a:r>
              <a:rPr lang="en-US" sz="16813" spc="-1328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32440"/>
            <a:ext cx="16959081" cy="65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BULK UPLOAD</a:t>
            </a: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Upload many r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esumes at once and watch them process live.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MATCHING</a:t>
            </a: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Compares each resume to the job requirements using AI, one requirement at a time.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EVIDENCE LINKING</a:t>
            </a: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Click any score and see the exact resume text that backs it up.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SKILL GAP ANALYSIS</a:t>
            </a:r>
          </a:p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what's missing, what's weak, and what's claimed but never proven.</a:t>
            </a:r>
          </a:p>
          <a:p>
            <a:pPr algn="l">
              <a:lnSpc>
                <a:spcPts val="406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00012" y="8152980"/>
            <a:ext cx="3184919" cy="1337004"/>
            <a:chOff x="0" y="0"/>
            <a:chExt cx="838826" cy="352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826" cy="352133"/>
            </a:xfrm>
            <a:custGeom>
              <a:avLst/>
              <a:gdLst/>
              <a:ahLst/>
              <a:cxnLst/>
              <a:rect r="r" b="b" t="t" l="l"/>
              <a:pathLst>
                <a:path h="352133" w="838826">
                  <a:moveTo>
                    <a:pt x="0" y="0"/>
                  </a:moveTo>
                  <a:lnTo>
                    <a:pt x="838826" y="0"/>
                  </a:lnTo>
                  <a:lnTo>
                    <a:pt x="838826" y="352133"/>
                  </a:lnTo>
                  <a:lnTo>
                    <a:pt x="0" y="35213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38826" cy="39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8982"/>
            <a:ext cx="16230600" cy="20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59"/>
              </a:lnSpc>
            </a:pPr>
            <a:r>
              <a:rPr lang="en-US" sz="16813" spc="-1328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32440"/>
            <a:ext cx="16959081" cy="65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SMART</a:t>
            </a: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Intervi</a:t>
            </a: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ew Questions</a:t>
            </a: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Generated from each candidate's real gaps, not a generic question bank.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RANKING</a:t>
            </a: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Dashboard</a:t>
            </a: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candidates for a role, sorted and filterable, in one place.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Cheat Detection</a:t>
            </a: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Catches hidden text or fake instructions someone sneaks into a resume to trick the AI.</a:t>
            </a:r>
          </a:p>
          <a:p>
            <a:pPr algn="l">
              <a:lnSpc>
                <a:spcPts val="4069"/>
              </a:lnSpc>
            </a:pPr>
          </a:p>
          <a:p>
            <a:pPr algn="l">
              <a:lnSpc>
                <a:spcPts val="4069"/>
              </a:lnSpc>
            </a:pPr>
            <a:r>
              <a:rPr lang="en-US" sz="3419" spc="-13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Fair </a:t>
            </a: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SCREENING MODE</a:t>
            </a:r>
          </a:p>
          <a:p>
            <a:pPr algn="l">
              <a:lnSpc>
                <a:spcPts val="4069"/>
              </a:lnSpc>
            </a:pPr>
            <a:r>
              <a:rPr lang="en-US" b="true" sz="3419" spc="-13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- </a:t>
            </a:r>
            <a:r>
              <a:rPr lang="en-US" sz="3419" spc="-1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Hides names and colleges while scoring, so bias doesn't creep in.</a:t>
            </a:r>
          </a:p>
          <a:p>
            <a:pPr algn="l">
              <a:lnSpc>
                <a:spcPts val="406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0812" y="3753940"/>
            <a:ext cx="3570747" cy="357074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862480">
            <a:off x="6836763" y="4247511"/>
            <a:ext cx="4826877" cy="1791978"/>
          </a:xfrm>
          <a:custGeom>
            <a:avLst/>
            <a:gdLst/>
            <a:ahLst/>
            <a:cxnLst/>
            <a:rect r="r" b="b" t="t" l="l"/>
            <a:pathLst>
              <a:path h="1791978" w="4826877">
                <a:moveTo>
                  <a:pt x="0" y="0"/>
                </a:moveTo>
                <a:lnTo>
                  <a:pt x="4826877" y="0"/>
                </a:lnTo>
                <a:lnTo>
                  <a:pt x="4826877" y="1791978"/>
                </a:lnTo>
                <a:lnTo>
                  <a:pt x="0" y="1791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1971" y="1487763"/>
            <a:ext cx="13084057" cy="181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42"/>
              </a:lnSpc>
            </a:pPr>
            <a:r>
              <a:rPr lang="en-US" sz="16813" spc="-1345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0317" y="4687797"/>
            <a:ext cx="3311336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SEMANTIC VECTOR MATCHI</a:t>
            </a: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4449" y="7180668"/>
            <a:ext cx="2680628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MALICIOUS INPUT DEFE</a:t>
            </a: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93194" y="8271719"/>
            <a:ext cx="1987161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EVIDENCE GROUNDING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49199" y="7632625"/>
            <a:ext cx="254921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CONTEXTUAL GAP INFERENCE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23804" y="4486629"/>
            <a:ext cx="2501020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2"/>
              </a:lnSpc>
            </a:pPr>
            <a:r>
              <a:rPr lang="en-US" b="true" sz="2400" spc="-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STRUCTURAL BIAS MITIGATION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36247" y="5672471"/>
            <a:ext cx="259877" cy="25987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>
            <a:off x="3225985" y="5885909"/>
            <a:ext cx="5840639" cy="4898353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250202" y="5901535"/>
            <a:ext cx="3889125" cy="458856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295750" y="5812335"/>
            <a:ext cx="10271310" cy="786842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-1774145" y="5806615"/>
            <a:ext cx="10810459" cy="35007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1621">
            <a:off x="11810735" y="-3903615"/>
            <a:ext cx="5218200" cy="12458404"/>
            <a:chOff x="0" y="0"/>
            <a:chExt cx="812800" cy="1940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940552"/>
            </a:xfrm>
            <a:custGeom>
              <a:avLst/>
              <a:gdLst/>
              <a:ahLst/>
              <a:cxnLst/>
              <a:rect r="r" b="b" t="t" l="l"/>
              <a:pathLst>
                <a:path h="1940552" w="812800">
                  <a:moveTo>
                    <a:pt x="406400" y="1940552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194055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00511"/>
              <a:ext cx="558800" cy="939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5759" y="1138384"/>
            <a:ext cx="13084057" cy="181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42"/>
              </a:lnSpc>
            </a:pPr>
            <a:r>
              <a:rPr lang="en-US" sz="16813" spc="-1345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Tech 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6310" y="2554023"/>
            <a:ext cx="5483424" cy="181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442"/>
              </a:lnSpc>
            </a:pPr>
            <a:r>
              <a:rPr lang="en-US" sz="16813" spc="-1345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used</a:t>
            </a:r>
          </a:p>
        </p:txBody>
      </p:sp>
      <p:grpSp>
        <p:nvGrpSpPr>
          <p:cNvPr name="Group 7" id="7"/>
          <p:cNvGrpSpPr/>
          <p:nvPr/>
        </p:nvGrpSpPr>
        <p:grpSpPr>
          <a:xfrm rot="935185">
            <a:off x="-1343445" y="3984912"/>
            <a:ext cx="6415259" cy="7101100"/>
            <a:chOff x="0" y="0"/>
            <a:chExt cx="1039391" cy="115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9391" cy="1150510"/>
            </a:xfrm>
            <a:custGeom>
              <a:avLst/>
              <a:gdLst/>
              <a:ahLst/>
              <a:cxnLst/>
              <a:rect r="r" b="b" t="t" l="l"/>
              <a:pathLst>
                <a:path h="1150510" w="1039391">
                  <a:moveTo>
                    <a:pt x="0" y="0"/>
                  </a:moveTo>
                  <a:lnTo>
                    <a:pt x="1039391" y="0"/>
                  </a:lnTo>
                  <a:lnTo>
                    <a:pt x="1039391" y="1150510"/>
                  </a:lnTo>
                  <a:lnTo>
                    <a:pt x="0" y="1150510"/>
                  </a:lnTo>
                  <a:close/>
                </a:path>
              </a:pathLst>
            </a:custGeom>
            <a:blipFill>
              <a:blip r:embed="rId2"/>
              <a:stretch>
                <a:fillRect l="-6562" t="0" r="-5926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31730" y="5764718"/>
            <a:ext cx="2650755" cy="38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b="true" sz="2799" spc="-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1730" y="6116635"/>
            <a:ext cx="2412270" cy="131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Next JS</a:t>
            </a:r>
          </a:p>
          <a:p>
            <a:pPr algn="l">
              <a:lnSpc>
                <a:spcPts val="307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Typescript</a:t>
            </a:r>
          </a:p>
          <a:p>
            <a:pPr algn="l">
              <a:lnSpc>
                <a:spcPts val="307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Tailwind CSS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2389" y="8020056"/>
            <a:ext cx="3196778" cy="3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b="true" sz="2799" spc="-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DATABASE &amp; 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62389" y="8410073"/>
            <a:ext cx="3474381" cy="120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PostgreSQL</a:t>
            </a:r>
          </a:p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Prisma ORM</a:t>
            </a:r>
          </a:p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Pgvector extension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48934" y="4089144"/>
            <a:ext cx="2616468" cy="38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b="true" sz="2799" spc="-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&amp; 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48934" y="4522023"/>
            <a:ext cx="3408821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Google Gemini</a:t>
            </a:r>
          </a:p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Groq Cloud</a:t>
            </a:r>
          </a:p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pgvector</a:t>
            </a:r>
          </a:p>
        </p:txBody>
      </p:sp>
      <p:grpSp>
        <p:nvGrpSpPr>
          <p:cNvPr name="Group 15" id="15"/>
          <p:cNvGrpSpPr/>
          <p:nvPr/>
        </p:nvGrpSpPr>
        <p:grpSpPr>
          <a:xfrm rot="-212989">
            <a:off x="11107375" y="5439565"/>
            <a:ext cx="259877" cy="25987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5616968" y="5659007"/>
            <a:ext cx="5526144" cy="5250586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4036876" y="8603209"/>
            <a:ext cx="2616468" cy="38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b="true" sz="2799" spc="-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36876" y="9036088"/>
            <a:ext cx="3408821" cy="41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Appwrite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95027" y="6226173"/>
            <a:ext cx="3810368" cy="34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b="true" sz="2799" spc="-11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DOCUMENT PARSING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95027" y="6659052"/>
            <a:ext cx="4964273" cy="77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PDF parse</a:t>
            </a:r>
          </a:p>
          <a:p>
            <a:pPr algn="l">
              <a:lnSpc>
                <a:spcPts val="2799"/>
              </a:lnSpc>
            </a:pPr>
            <a:r>
              <a:rPr lang="en-US" sz="2799" i="true" spc="-111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mammoth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2502"/>
            <a:ext cx="9146360" cy="149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2"/>
              </a:lnSpc>
            </a:pPr>
            <a:r>
              <a:rPr lang="en-US" sz="13855" spc="-1108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Impact</a:t>
            </a:r>
          </a:p>
        </p:txBody>
      </p:sp>
      <p:grpSp>
        <p:nvGrpSpPr>
          <p:cNvPr name="Group 3" id="3"/>
          <p:cNvGrpSpPr/>
          <p:nvPr/>
        </p:nvGrpSpPr>
        <p:grpSpPr>
          <a:xfrm rot="-599260">
            <a:off x="17056761" y="-720754"/>
            <a:ext cx="2157555" cy="1826156"/>
            <a:chOff x="0" y="0"/>
            <a:chExt cx="689595" cy="5836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9595" cy="583674"/>
            </a:xfrm>
            <a:custGeom>
              <a:avLst/>
              <a:gdLst/>
              <a:ahLst/>
              <a:cxnLst/>
              <a:rect r="r" b="b" t="t" l="l"/>
              <a:pathLst>
                <a:path h="583674" w="689595">
                  <a:moveTo>
                    <a:pt x="0" y="0"/>
                  </a:moveTo>
                  <a:lnTo>
                    <a:pt x="689595" y="0"/>
                  </a:lnTo>
                  <a:lnTo>
                    <a:pt x="689595" y="583674"/>
                  </a:lnTo>
                  <a:lnTo>
                    <a:pt x="0" y="58367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9595" cy="62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-2347140" y="6006980"/>
            <a:ext cx="12820674" cy="968079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599260">
            <a:off x="15554619" y="6186913"/>
            <a:ext cx="5995020" cy="5867306"/>
            <a:chOff x="0" y="0"/>
            <a:chExt cx="1916121" cy="1875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6121" cy="1875301"/>
            </a:xfrm>
            <a:custGeom>
              <a:avLst/>
              <a:gdLst/>
              <a:ahLst/>
              <a:cxnLst/>
              <a:rect r="r" b="b" t="t" l="l"/>
              <a:pathLst>
                <a:path h="1875301" w="1916121">
                  <a:moveTo>
                    <a:pt x="0" y="0"/>
                  </a:moveTo>
                  <a:lnTo>
                    <a:pt x="1916121" y="0"/>
                  </a:lnTo>
                  <a:lnTo>
                    <a:pt x="1916121" y="1875301"/>
                  </a:lnTo>
                  <a:lnTo>
                    <a:pt x="0" y="1875301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16121" cy="1913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645737">
            <a:off x="14843030" y="5545283"/>
            <a:ext cx="2865290" cy="3198151"/>
            <a:chOff x="0" y="0"/>
            <a:chExt cx="812800" cy="9072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07223"/>
            </a:xfrm>
            <a:custGeom>
              <a:avLst/>
              <a:gdLst/>
              <a:ahLst/>
              <a:cxnLst/>
              <a:rect r="r" b="b" t="t" l="l"/>
              <a:pathLst>
                <a:path h="90722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07223"/>
                  </a:lnTo>
                  <a:lnTo>
                    <a:pt x="0" y="907223"/>
                  </a:lnTo>
                  <a:close/>
                </a:path>
              </a:pathLst>
            </a:custGeom>
            <a:blipFill>
              <a:blip r:embed="rId2"/>
              <a:stretch>
                <a:fillRect l="0" t="-17362" r="0" b="-1736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137063"/>
            <a:ext cx="13914434" cy="468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 RECRUITERS:</a:t>
            </a:r>
          </a:p>
          <a:p>
            <a:pPr algn="l">
              <a:lnSpc>
                <a:spcPts val="2833"/>
              </a:lnSpc>
            </a:pP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i="true" spc="-128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Screening goes from hours of manual reading to minutes of review, so recruiters spend less time sorting resumes and more time on final decisions.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833"/>
              </a:lnSpc>
            </a:pP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TIME SAVED, REALISTICALLY:</a:t>
            </a:r>
          </a:p>
          <a:p>
            <a:pPr algn="l">
              <a:lnSpc>
                <a:spcPts val="2833"/>
              </a:lnSpc>
            </a:pP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i="true" spc="-128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Reading and comparing 30-50 resumes manually takes 3-4 hours. Evidently gets that down to a ranked shortlist in minutes.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833"/>
              </a:lnSpc>
            </a:pP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BETTER FIRST-ROUND INTERVIEWS:</a:t>
            </a:r>
          </a:p>
          <a:p>
            <a:pPr algn="l">
              <a:lnSpc>
                <a:spcPts val="2833"/>
              </a:lnSpc>
            </a:pP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i="true" spc="-128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Questions are grounded in each candidate's actual gaps, so even less experienced interviewers ask sharper, more relevant questions.</a:t>
            </a:r>
          </a:p>
          <a:p>
            <a:pPr algn="l">
              <a:lnSpc>
                <a:spcPts val="2833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-212989">
            <a:off x="1594180" y="8990627"/>
            <a:ext cx="259877" cy="2598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2502"/>
            <a:ext cx="9146360" cy="149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2"/>
              </a:lnSpc>
            </a:pPr>
            <a:r>
              <a:rPr lang="en-US" sz="13855" spc="-1108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Impact</a:t>
            </a:r>
          </a:p>
        </p:txBody>
      </p:sp>
      <p:grpSp>
        <p:nvGrpSpPr>
          <p:cNvPr name="Group 3" id="3"/>
          <p:cNvGrpSpPr/>
          <p:nvPr/>
        </p:nvGrpSpPr>
        <p:grpSpPr>
          <a:xfrm rot="-599260">
            <a:off x="17056761" y="-720754"/>
            <a:ext cx="2157555" cy="1826156"/>
            <a:chOff x="0" y="0"/>
            <a:chExt cx="689595" cy="5836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9595" cy="583674"/>
            </a:xfrm>
            <a:custGeom>
              <a:avLst/>
              <a:gdLst/>
              <a:ahLst/>
              <a:cxnLst/>
              <a:rect r="r" b="b" t="t" l="l"/>
              <a:pathLst>
                <a:path h="583674" w="689595">
                  <a:moveTo>
                    <a:pt x="0" y="0"/>
                  </a:moveTo>
                  <a:lnTo>
                    <a:pt x="689595" y="0"/>
                  </a:lnTo>
                  <a:lnTo>
                    <a:pt x="689595" y="583674"/>
                  </a:lnTo>
                  <a:lnTo>
                    <a:pt x="0" y="58367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9595" cy="62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-2347140" y="6006980"/>
            <a:ext cx="12820674" cy="968079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599260">
            <a:off x="15554619" y="6186913"/>
            <a:ext cx="5995020" cy="5867306"/>
            <a:chOff x="0" y="0"/>
            <a:chExt cx="1916121" cy="1875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6121" cy="1875301"/>
            </a:xfrm>
            <a:custGeom>
              <a:avLst/>
              <a:gdLst/>
              <a:ahLst/>
              <a:cxnLst/>
              <a:rect r="r" b="b" t="t" l="l"/>
              <a:pathLst>
                <a:path h="1875301" w="1916121">
                  <a:moveTo>
                    <a:pt x="0" y="0"/>
                  </a:moveTo>
                  <a:lnTo>
                    <a:pt x="1916121" y="0"/>
                  </a:lnTo>
                  <a:lnTo>
                    <a:pt x="1916121" y="1875301"/>
                  </a:lnTo>
                  <a:lnTo>
                    <a:pt x="0" y="1875301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16121" cy="1913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645737">
            <a:off x="14843030" y="5545283"/>
            <a:ext cx="2865290" cy="3198151"/>
            <a:chOff x="0" y="0"/>
            <a:chExt cx="812800" cy="9072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907223"/>
            </a:xfrm>
            <a:custGeom>
              <a:avLst/>
              <a:gdLst/>
              <a:ahLst/>
              <a:cxnLst/>
              <a:rect r="r" b="b" t="t" l="l"/>
              <a:pathLst>
                <a:path h="90722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07223"/>
                  </a:lnTo>
                  <a:lnTo>
                    <a:pt x="0" y="907223"/>
                  </a:lnTo>
                  <a:close/>
                </a:path>
              </a:pathLst>
            </a:custGeom>
            <a:blipFill>
              <a:blip r:embed="rId2"/>
              <a:stretch>
                <a:fillRect l="0" t="-17362" r="0" b="-1736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137063"/>
            <a:ext cx="13914434" cy="465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MORE CONSISTENT S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creening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algn="l">
              <a:lnSpc>
                <a:spcPts val="2833"/>
              </a:lnSpc>
            </a:pP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i="true" spc="-128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Every resume is judged against the same requirements the same way, reducing the variation between recruiters or a tired day.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833"/>
              </a:lnSpc>
            </a:pP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EP TOWARD FAIRER SCRE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ing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algn="l">
              <a:lnSpc>
                <a:spcPts val="2833"/>
              </a:lnSpc>
            </a:pP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i="true" spc="-128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Blind screening reduces the chance a name or college influences the score, without removing the recruiter's final judgment.</a:t>
            </a:r>
          </a:p>
          <a:p>
            <a:pPr algn="l">
              <a:lnSpc>
                <a:spcPts val="2833"/>
              </a:lnSpc>
            </a:pPr>
          </a:p>
          <a:p>
            <a:pPr algn="l">
              <a:lnSpc>
                <a:spcPts val="2833"/>
              </a:lnSpc>
            </a:pP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 HONEST CAVEAT, WORTH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out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</a:t>
            </a:r>
            <a:r>
              <a:rPr lang="en-US" b="true" sz="3219" spc="-12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oud</a:t>
            </a: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algn="l">
              <a:lnSpc>
                <a:spcPts val="2833"/>
              </a:lnSpc>
            </a:pPr>
            <a:r>
              <a:rPr lang="en-US" sz="3219" spc="-128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19" i="true" spc="-128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This is a screening aid, not a decision-maker. It surfaces evidence faster than a human could, but the recruiter still makes the final call.</a:t>
            </a:r>
          </a:p>
          <a:p>
            <a:pPr algn="l">
              <a:lnSpc>
                <a:spcPts val="2833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-212989">
            <a:off x="1594180" y="8990627"/>
            <a:ext cx="259877" cy="2598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522327">
            <a:off x="11524331" y="30295"/>
            <a:ext cx="9644767" cy="12458404"/>
            <a:chOff x="0" y="0"/>
            <a:chExt cx="1502293" cy="1940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2293" cy="1940552"/>
            </a:xfrm>
            <a:custGeom>
              <a:avLst/>
              <a:gdLst/>
              <a:ahLst/>
              <a:cxnLst/>
              <a:rect r="r" b="b" t="t" l="l"/>
              <a:pathLst>
                <a:path h="1940552" w="1502293">
                  <a:moveTo>
                    <a:pt x="751147" y="1940552"/>
                  </a:moveTo>
                  <a:lnTo>
                    <a:pt x="1502293" y="0"/>
                  </a:lnTo>
                  <a:lnTo>
                    <a:pt x="0" y="0"/>
                  </a:lnTo>
                  <a:lnTo>
                    <a:pt x="751147" y="1940552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34733" y="100511"/>
              <a:ext cx="1032827" cy="939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1912459" y="1421100"/>
            <a:ext cx="12820674" cy="9680799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1485629" y="4261771"/>
            <a:ext cx="11932170" cy="4611737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212989">
            <a:off x="10318590" y="4265239"/>
            <a:ext cx="259877" cy="2598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7237423" y="4100222"/>
            <a:ext cx="6977271" cy="7539714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645737">
            <a:off x="1084772" y="870732"/>
            <a:ext cx="3519494" cy="35194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87119" y="8080216"/>
            <a:ext cx="1890861" cy="1890861"/>
          </a:xfrm>
          <a:custGeom>
            <a:avLst/>
            <a:gdLst/>
            <a:ahLst/>
            <a:cxnLst/>
            <a:rect r="r" b="b" t="t" l="l"/>
            <a:pathLst>
              <a:path h="1890861" w="1890861">
                <a:moveTo>
                  <a:pt x="0" y="0"/>
                </a:moveTo>
                <a:lnTo>
                  <a:pt x="1890861" y="0"/>
                </a:lnTo>
                <a:lnTo>
                  <a:pt x="1890861" y="1890861"/>
                </a:lnTo>
                <a:lnTo>
                  <a:pt x="0" y="1890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783" t="-24732" r="-24286" b="-2633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21948" y="1182679"/>
            <a:ext cx="10837352" cy="149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2"/>
              </a:lnSpc>
            </a:pPr>
            <a:r>
              <a:rPr lang="en-US" sz="13855" spc="-1108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Thank You!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30674" y="5136921"/>
            <a:ext cx="4069815" cy="54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3"/>
              </a:lnSpc>
            </a:pPr>
            <a:r>
              <a:rPr lang="en-US" b="true" sz="4072" spc="-16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Nexos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61078" y="6007584"/>
            <a:ext cx="3328626" cy="86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1"/>
              </a:lnSpc>
            </a:pPr>
            <a:r>
              <a:rPr lang="en-US" sz="3330" i="true" spc="-53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Fuzail Mansuri</a:t>
            </a:r>
          </a:p>
          <a:p>
            <a:pPr algn="just">
              <a:lnSpc>
                <a:spcPts val="2931"/>
              </a:lnSpc>
            </a:pPr>
            <a:r>
              <a:rPr lang="en-US" sz="3330" i="true" spc="-53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Abrar 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DAHVEEkNpZY</dc:identifier>
  <dcterms:modified xsi:type="dcterms:W3CDTF">2011-08-01T06:04:30Z</dcterms:modified>
  <cp:revision>1</cp:revision>
  <dc:title>TeamNexos-Nexus-Hackathone-Presentation</dc:title>
</cp:coreProperties>
</file>